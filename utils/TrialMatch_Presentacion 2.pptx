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62" r:id="rId6"/>
    <p:sldId id="269" r:id="rId7"/>
    <p:sldId id="266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76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lls-walked-himself-flash.trycloudflar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rcorsetti/MCD_Austral_Text_Mining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0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A7C6A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9E85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B5483D">
              <a:alpha val="3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AUSTRAL COHORTE VIRTUAL 2025-2026 · TEXT MINING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</a:t>
            </a:r>
            <a:r>
              <a:rPr lang="en-US" sz="6000" b="1" dirty="0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E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automático de pacientes oncológicos con ensayos clínicos elegibles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280160" cy="0"/>
          </a:xfrm>
          <a:prstGeom prst="line">
            <a:avLst/>
          </a:prstGeom>
          <a:noFill/>
          <a:ln w="31750">
            <a:solidFill>
              <a:srgbClr val="5FD3B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Ornela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AR" sz="1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Corsetti 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Aimé Giorlando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Horn </a:t>
            </a:r>
            <a:b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Tomás Rodriguez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Zurro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44068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el ensayo clínico correcto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carrera contra el tiempo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6F4F1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complejos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ensayo tiene decenas de criterios de inclusión/exclusión escritos en texto libre, lenguaje técnico, sin estructura uniforme.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DF3E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709160" y="2651760"/>
            <a:ext cx="685800" cy="685800"/>
          </a:xfrm>
          <a:prstGeom prst="ellipse">
            <a:avLst/>
          </a:prstGeom>
          <a:solidFill>
            <a:srgbClr val="C985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70916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tiempo es crítico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oncología, cada semana de demora en encontrar el tratamiento adecuado puede impactar el pronóstico del paciente.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0513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CEFEC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549640" y="2651760"/>
            <a:ext cx="685800" cy="685800"/>
          </a:xfrm>
          <a:prstGeom prst="ellipse">
            <a:avLst/>
          </a:prstGeom>
          <a:solidFill>
            <a:srgbClr val="B548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854964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🌎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964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 de opciones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39593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 tiene cientos de miles de estudios registrados — revisarlos manualmente, uno por uno, no escala.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755193"/>
            <a:ext cx="11064240" cy="64008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propuesta: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traduce el perfil clínico de un paciente en una búsqueda inteligente sobre ClinicalTrials.gov.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A06FFC3-E01B-1005-AD9E-291E02158EB7}"/>
              </a:ext>
            </a:extLst>
          </p:cNvPr>
          <p:cNvSpPr/>
          <p:nvPr/>
        </p:nvSpPr>
        <p:spPr>
          <a:xfrm>
            <a:off x="617220" y="1648533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6F4F1"/>
          </a:solidFill>
          <a:ln/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Argentina y la </a:t>
            </a:r>
            <a:r>
              <a:rPr lang="en-US" b="1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r>
              <a:rPr lang="en-US" b="1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terapias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oncológicas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local. Un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bien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matcheado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la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acceder o no a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</a:t>
            </a:r>
            <a:r>
              <a:rPr lang="en-US" dirty="0">
                <a:solidFill>
                  <a:srgbClr val="0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¿Para quién sirve esta herramienta?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621792"/>
          </a:xfrm>
          <a:prstGeom prst="rect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Médico oncólogo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opciones de tratamiento más allá del estándar de cuidado disponible localmente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horas de búsqueda manual en cientos de protocolos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una explicación clínica de por qué cada ensayo matchea (o no)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621792"/>
          </a:xfrm>
          <a:prstGeom prst="rect">
            <a:avLst/>
          </a:prstGeom>
          <a:solidFill>
            <a:srgbClr val="B5483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459943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9943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tratamientos de última generación sin costo, vía participación en el ensayo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sitios activos cerca de su </a:t>
            </a:r>
            <a:r>
              <a:rPr lang="en-US" sz="1230" dirty="0" err="1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30" dirty="0" err="1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geográfica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20440" cy="621792"/>
          </a:xfrm>
          <a:prstGeom prst="rect">
            <a:avLst/>
          </a:prstGeom>
          <a:solidFill>
            <a:srgbClr val="C985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394192" y="1417320"/>
            <a:ext cx="3008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 / industria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94192" y="2258568"/>
            <a:ext cx="300837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el enrolamiento al identificar pacientes elegibles más rápido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estudios competitivos para el mismo perfil de paciente</a:t>
            </a:r>
            <a:endParaRPr lang="en-US" sz="1230" dirty="0"/>
          </a:p>
          <a:p>
            <a:pPr marL="203200" indent="-203200">
              <a:lnSpc>
                <a:spcPts val="1700"/>
              </a:lnSpc>
              <a:spcAft>
                <a:spcPts val="1300"/>
              </a:spcAft>
              <a:buSzPct val="100000"/>
              <a:buChar char="●"/>
            </a:pPr>
            <a:r>
              <a:rPr lang="en-US" sz="123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decisiones estratégicas de país y sitio en la etapa de start-up del estudio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ClinicalTrials.gov?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público más grande del mundo </a:t>
            </a:r>
            <a:r>
              <a:rPr lang="en-US" sz="15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ensayos clínicos, mantenido por la U.S. National Library of Medicine (NIH). Cualquier estudio clínico realizado en EE.UU. — y la gran mayoría de los internacionales con sponsors farmacéuticos — debe registrarse aquí.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906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v2 gratuita y abierta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4107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programático sin autenticación, en formato JSON estructurado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9593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clínicos ricos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4279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fase, criterios de elegibilidad, intervenciones, sitios activos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0A7C6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48280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514807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sponsors deben mantener el estado (recruiting, completed, etc.)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1600200"/>
            <a:ext cx="4023360" cy="4251960"/>
          </a:xfrm>
          <a:prstGeom prst="roundRect">
            <a:avLst>
              <a:gd name="adj" fmla="val 3182"/>
            </a:avLst>
          </a:prstGeom>
          <a:solidFill>
            <a:srgbClr val="0A5045"/>
          </a:solidFill>
          <a:ln/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7635240" y="1965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FD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440,579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90956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clínicos registrados</a:t>
            </a:r>
            <a:endParaRPr lang="en-US" sz="13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(dataset descargado para este proyecto)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3611880"/>
            <a:ext cx="3291840" cy="0"/>
          </a:xfrm>
          <a:prstGeom prst="line">
            <a:avLst/>
          </a:prstGeom>
          <a:noFill/>
          <a:ln w="12700">
            <a:solidFill>
              <a:srgbClr val="2A7D6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7635240" y="3794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83,958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909560" y="43708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criterios de elegibilidad disponibles para </a:t>
            </a:r>
            <a:r>
              <a:rPr lang="en-US" sz="1250" dirty="0" err="1">
                <a:solidFill>
                  <a:srgbClr val="CFE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01000" y="5074920"/>
            <a:ext cx="3291840" cy="0"/>
          </a:xfrm>
          <a:prstGeom prst="line">
            <a:avLst/>
          </a:prstGeom>
          <a:noFill/>
          <a:ln w="12700">
            <a:solidFill>
              <a:srgbClr val="2A7D6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781812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· sin autenticación · actualización diaria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central: texto libre, sin estructura uniforme</a:t>
            </a:r>
            <a:endParaRPr lang="en-US" sz="2600" dirty="0"/>
          </a:p>
        </p:txBody>
      </p:sp>
      <p:pic>
        <p:nvPicPr>
          <p:cNvPr id="4" name="Image 0" descr="/home/claude/pptx_build/assets/format_donu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6492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42632" y="2912364"/>
            <a:ext cx="4434840" cy="1639539"/>
          </a:xfrm>
          <a:prstGeom prst="roundRect">
            <a:avLst>
              <a:gd name="adj" fmla="val 260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616952" y="332384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r>
              <a:rPr lang="en-US" sz="140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necesitamos un pipeline híbrido — regex para el 86.5% bien formado, y un parser asistido por LLM para el 13.5% restante.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pipeline TrialMatch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9CD3C3-0AFE-FD0E-1188-CD468378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6" y="1366346"/>
            <a:ext cx="11018218" cy="4971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7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formulario del paciente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estructurados para el filtro inicial + texto libre para detalle clínico adicional procesado con NLP. </a:t>
            </a:r>
            <a:r>
              <a:rPr lang="en-US" sz="1350" b="1" dirty="0">
                <a:solidFill>
                  <a:srgbClr val="44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 campos son obligatorios — el resto suma precisión sin bloquear la búsqueda.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8404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6" name="Image 0" descr="/home/claude/pptx_build/assets/form_par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0" y="1947672"/>
            <a:ext cx="3009356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2452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8" name="Image 1" descr="/home/claude/pptx_build/assets/form_par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929" y="1947672"/>
            <a:ext cx="2915639" cy="4343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65008" y="1810512"/>
            <a:ext cx="3520440" cy="46177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pic>
        <p:nvPicPr>
          <p:cNvPr id="10" name="Image 2" descr="/home/claude/pptx_build/assets/form_par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588" y="1947672"/>
            <a:ext cx="3383280" cy="41157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A7C6A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1D9E85">
              <a:alpha val="4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Prototipo de la aplicación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058400" cy="1965960"/>
          </a:xfrm>
          <a:prstGeom prst="roundRect">
            <a:avLst>
              <a:gd name="adj" fmla="val 4651"/>
            </a:avLst>
          </a:prstGeom>
          <a:solidFill>
            <a:srgbClr val="0D635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143000" y="429768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PROTOTIPO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2980" y="45994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</a:t>
            </a:r>
            <a:r>
              <a:rPr lang="en-US" sz="1500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https://pills-walked-himself-flash.trycloudflare.com</a:t>
            </a:r>
            <a:r>
              <a:rPr lang="en-US" sz="1500" u="sng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" y="5102352"/>
            <a:ext cx="9418320" cy="0"/>
          </a:xfrm>
          <a:prstGeom prst="line">
            <a:avLst/>
          </a:prstGeom>
          <a:noFill/>
          <a:ln w="12700">
            <a:solidFill>
              <a:srgbClr val="1D8A7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1143000" y="52303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54681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</a:t>
            </a:r>
            <a:r>
              <a:rPr lang="en-US" sz="1500" u="sng" dirty="0">
                <a:solidFill>
                  <a:srgbClr val="5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github.com/orcorsetti/MCD_Austral_Text_Mining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TrialMatch · MCD Austral · Text Mining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614</Words>
  <Application>Microsoft Macintosh PowerPoint</Application>
  <PresentationFormat>Panorámica</PresentationFormat>
  <Paragraphs>84</Paragraphs>
  <Slides>8</Slides>
  <Notes>8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TrialMatch — Clinical Trial Matching en Oncología</dc:title>
  <dc:subject>PptxGenJS Presentation</dc:subject>
  <dc:creator>Aime Giorlando</dc:creator>
  <cp:lastModifiedBy>GIORLANDO AIME</cp:lastModifiedBy>
  <cp:revision>5</cp:revision>
  <dcterms:created xsi:type="dcterms:W3CDTF">2026-06-28T21:04:22Z</dcterms:created>
  <dcterms:modified xsi:type="dcterms:W3CDTF">2026-06-30T21:25:34Z</dcterms:modified>
</cp:coreProperties>
</file>